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166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319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57213" y="1354020"/>
            <a:ext cx="4810590" cy="153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50" kern="0" spc="2" dirty="0">
                <a:solidFill>
                  <a:srgbClr val="557A63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DATABASE ARCHITECTURE / ER MODEL</a:t>
            </a:r>
            <a:endParaRPr lang="en-US" sz="850" dirty="0"/>
          </a:p>
        </p:txBody>
      </p:sp>
      <p:sp>
        <p:nvSpPr>
          <p:cNvPr id="4" name="Text 1"/>
          <p:cNvSpPr/>
          <p:nvPr/>
        </p:nvSpPr>
        <p:spPr>
          <a:xfrm>
            <a:off x="557213" y="1679060"/>
            <a:ext cx="4643438" cy="81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84000"/>
              </a:lnSpc>
              <a:buNone/>
            </a:pPr>
            <a:r>
              <a:rPr lang="en-US" sz="2750" b="1" dirty="0">
                <a:solidFill>
                  <a:srgbClr val="173B32"/>
                </a:solidFill>
                <a:latin typeface="Inter ExtraBold" pitchFamily="34" charset="0"/>
                <a:ea typeface="Inter ExtraBold" pitchFamily="34" charset="-122"/>
                <a:cs typeface="Inter ExtraBold" pitchFamily="34" charset="-120"/>
              </a:rPr>
              <a:t>E-Commerce Order, Return &amp; Refund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57213" y="2660545"/>
            <a:ext cx="4214813" cy="7145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5B657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visual map of customers, products, orders, returns, and refunds — connected through a clear relational structure.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57213" y="3882349"/>
            <a:ext cx="481059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800" dirty="0">
                <a:solidFill>
                  <a:srgbClr val="7A858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ENTITY–RELATIONSHIP DIAGRAM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394982" y="0"/>
            <a:ext cx="3749018" cy="5143500"/>
          </a:xfrm>
          <a:prstGeom prst="rect">
            <a:avLst/>
          </a:prstGeom>
          <a:solidFill>
            <a:srgbClr val="DCEBDD"/>
          </a:solidFill>
          <a:ln/>
        </p:spPr>
      </p:sp>
      <p:sp>
        <p:nvSpPr>
          <p:cNvPr id="8" name="Shape 5"/>
          <p:cNvSpPr/>
          <p:nvPr/>
        </p:nvSpPr>
        <p:spPr>
          <a:xfrm>
            <a:off x="6193631" y="4025224"/>
            <a:ext cx="2536031" cy="661077"/>
          </a:xfrm>
          <a:prstGeom prst="rect">
            <a:avLst/>
          </a:prstGeom>
          <a:solidFill>
            <a:srgbClr val="F7F4EC"/>
          </a:solidFill>
          <a:ln w="18288">
            <a:solidFill>
              <a:srgbClr val="557A6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57213" y="4782741"/>
            <a:ext cx="1275159" cy="13215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750" dirty="0">
                <a:solidFill>
                  <a:srgbClr val="83908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| SYSTEM BLUEPRINT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28600"/>
            <a:ext cx="36576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0352D"/>
                </a:solidFill>
                <a:latin typeface="Aptos"/>
              </a:rPr>
              <a:t>ENTITIES &amp; ATTRIBUTES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56692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55C56"/>
                </a:solidFill>
                <a:latin typeface="Aptos"/>
              </a:rPr>
              <a:t>Database entities and the attributes stored for each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03720" y="446227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E5D2D"/>
                </a:solidFill>
                <a:latin typeface="Aptos"/>
              </a:rPr>
              <a:t>02 | SYSTEM BLUEPRINT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005840"/>
            <a:ext cx="2514600" cy="1234440"/>
          </a:xfrm>
          <a:prstGeom prst="roundRect">
            <a:avLst/>
          </a:prstGeom>
          <a:solidFill>
            <a:srgbClr val="D6E7FA"/>
          </a:solidFill>
          <a:ln w="15240">
            <a:solidFill>
              <a:srgbClr val="214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/>
            <a:r>
              <a:rPr sz="1500" b="1">
                <a:solidFill>
                  <a:srgbClr val="214464"/>
                </a:solidFill>
                <a:latin typeface="Aptos"/>
              </a:rPr>
              <a:t>CUSTOMER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Customer_ID (PK)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Name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Email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Phone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Address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90672" y="1005840"/>
            <a:ext cx="2514600" cy="1234440"/>
          </a:xfrm>
          <a:prstGeom prst="roundRect">
            <a:avLst/>
          </a:prstGeom>
          <a:solidFill>
            <a:srgbClr val="D9F1DC"/>
          </a:solidFill>
          <a:ln w="15240">
            <a:solidFill>
              <a:srgbClr val="2052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/>
            <a:r>
              <a:rPr sz="1500" b="1">
                <a:solidFill>
                  <a:srgbClr val="205236"/>
                </a:solidFill>
                <a:latin typeface="Aptos"/>
              </a:rPr>
              <a:t>ORDER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Order_ID (PK)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Customer_ID (FK)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Product_ID (FK)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Order_Date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Quantity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Total_Amount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9864" y="1005840"/>
            <a:ext cx="2514600" cy="1234440"/>
          </a:xfrm>
          <a:prstGeom prst="roundRect">
            <a:avLst/>
          </a:prstGeom>
          <a:solidFill>
            <a:srgbClr val="FADAE0"/>
          </a:solidFill>
          <a:ln w="15240">
            <a:solidFill>
              <a:srgbClr val="6A36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/>
            <a:r>
              <a:rPr sz="1500" b="1">
                <a:solidFill>
                  <a:srgbClr val="6A3645"/>
                </a:solidFill>
                <a:latin typeface="Aptos"/>
              </a:rPr>
              <a:t>PRODUCT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Product_ID (PK)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Product_Name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Price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Stock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755648" y="2542032"/>
            <a:ext cx="2514600" cy="1234440"/>
          </a:xfrm>
          <a:prstGeom prst="roundRect">
            <a:avLst/>
          </a:prstGeom>
          <a:solidFill>
            <a:srgbClr val="FBE1C5"/>
          </a:solidFill>
          <a:ln w="15240">
            <a:solidFill>
              <a:srgbClr val="7544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/>
            <a:r>
              <a:rPr sz="1500" b="1">
                <a:solidFill>
                  <a:srgbClr val="754416"/>
                </a:solidFill>
                <a:latin typeface="Aptos"/>
              </a:rPr>
              <a:t>RETURN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Return_ID (PK)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Order_ID (FK)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Return_Date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Reason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2542032"/>
            <a:ext cx="2514600" cy="1234440"/>
          </a:xfrm>
          <a:prstGeom prst="roundRect">
            <a:avLst/>
          </a:prstGeom>
          <a:solidFill>
            <a:srgbClr val="CFEDEF"/>
          </a:solidFill>
          <a:ln w="15240">
            <a:solidFill>
              <a:srgbClr val="2056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64008" rIns="109728" rtlCol="0" anchor="ctr"/>
          <a:lstStyle/>
          <a:p>
            <a:pPr algn="ctr"/>
            <a:r>
              <a:rPr sz="1500" b="1">
                <a:solidFill>
                  <a:srgbClr val="20565B"/>
                </a:solidFill>
                <a:latin typeface="Aptos"/>
              </a:rPr>
              <a:t>REFUND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Refund_ID (PK)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Return_ID (FK)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Refund_Date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Amount</a:t>
            </a:r>
          </a:p>
          <a:p>
            <a:pPr>
              <a:spcAft>
                <a:spcPts val="0"/>
              </a:spcAft>
              <a:defRPr sz="950">
                <a:solidFill>
                  <a:srgbClr val="232826"/>
                </a:solidFill>
                <a:latin typeface="Aptos"/>
              </a:defRPr>
            </a:pPr>
            <a:r>
              <a:t>Status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904487"/>
            <a:ext cx="7498079" cy="347472"/>
          </a:xfrm>
          <a:prstGeom prst="roundRect">
            <a:avLst/>
          </a:prstGeom>
          <a:solidFill>
            <a:srgbClr val="F7F4EA"/>
          </a:solidFill>
          <a:ln w="10160">
            <a:solidFill>
              <a:srgbClr val="D4B8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58368" y="3968496"/>
            <a:ext cx="4114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950" b="1">
                <a:solidFill>
                  <a:srgbClr val="53492C"/>
                </a:solidFill>
                <a:latin typeface="Aptos"/>
              </a:rPr>
              <a:t>PK = Primary Key     •     FK = Foreign Key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edia_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1480" y="228600"/>
            <a:ext cx="4389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20352D"/>
                </a:solidFill>
                <a:latin typeface="Aptos"/>
              </a:rPr>
              <a:t>ENTITY–RELATIONSHIP DIAGRAM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566928"/>
            <a:ext cx="50292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>
                <a:solidFill>
                  <a:srgbClr val="555C56"/>
                </a:solidFill>
                <a:latin typeface="Aptos"/>
              </a:rPr>
              <a:t>E-Commerce Order, Return &amp; Refund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03720" y="4462272"/>
            <a:ext cx="11430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800" b="1">
                <a:solidFill>
                  <a:srgbClr val="6E5D2D"/>
                </a:solidFill>
                <a:latin typeface="Aptos"/>
              </a:rPr>
              <a:t>03 | SYSTEM BLUEPRINT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40" y="804672"/>
            <a:ext cx="8910320" cy="42936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3581400" y="25146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F2937"/>
                </a:solidFill>
                <a:latin typeface="Aptos Display"/>
              </a:defRPr>
            </a:pPr>
            <a:r>
              <a:rPr dirty="0"/>
              <a:t>DATABASE TABLES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1323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B7280"/>
                </a:solidFill>
                <a:latin typeface="Aptos"/>
              </a:defRPr>
            </a:pPr>
            <a:r>
              <a:rPr dirty="0"/>
              <a:t>Customer and Product data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713232"/>
            <a:ext cx="8818880" cy="428548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124" y="179303"/>
            <a:ext cx="3258391" cy="7232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1F2937"/>
                </a:solidFill>
                <a:latin typeface="Aptos Display"/>
              </a:defRPr>
            </a:pPr>
            <a:r>
              <a:rPr lang="en-IN" dirty="0"/>
              <a:t>DATABASE </a:t>
            </a:r>
            <a:r>
              <a:rPr lang="en-IN" dirty="0" smtClean="0"/>
              <a:t>TABLES</a:t>
            </a:r>
            <a:br>
              <a:rPr lang="en-IN" dirty="0" smtClean="0"/>
            </a:br>
            <a:r>
              <a:rPr lang="en-IN" sz="1600" i="1" dirty="0" smtClean="0"/>
              <a:t>RETURN &amp; REFUND </a:t>
            </a:r>
            <a:endParaRPr lang="en-IN" sz="1600" i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1109458"/>
            <a:ext cx="7904479" cy="3411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39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692</TotalTime>
  <Words>143</Words>
  <Application>Microsoft Office PowerPoint</Application>
  <PresentationFormat>On-screen Show (16:9)</PresentationFormat>
  <Paragraphs>47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Aptos</vt:lpstr>
      <vt:lpstr>Aptos Display</vt:lpstr>
      <vt:lpstr>Arial</vt:lpstr>
      <vt:lpstr>Calibri</vt:lpstr>
      <vt:lpstr>Inter</vt:lpstr>
      <vt:lpstr>Inter ExtraBold</vt:lpstr>
      <vt:lpstr>JetBrains Mono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2</cp:revision>
  <dcterms:created xsi:type="dcterms:W3CDTF">2026-09-17T13:31:48Z</dcterms:created>
  <dcterms:modified xsi:type="dcterms:W3CDTF">2026-09-18T04:35:18Z</dcterms:modified>
</cp:coreProperties>
</file>